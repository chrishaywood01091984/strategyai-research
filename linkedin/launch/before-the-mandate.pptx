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1704320" cy="7498079"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pic>
        <p:nvPicPr>
          <p:cNvPr id="2" name="Picture 1" descr="nl-devices.png"/>
          <p:cNvPicPr>
            <a:picLocks noChangeAspect="1"/>
          </p:cNvPicPr>
          <p:nvPr/>
        </p:nvPicPr>
        <p:blipFill>
          <a:blip r:embed="rId2"/>
          <a:stretch>
            <a:fillRect/>
          </a:stretch>
        </p:blipFill>
        <p:spPr>
          <a:xfrm>
            <a:off x="4681728" y="0"/>
            <a:ext cx="7022592" cy="7498080"/>
          </a:xfrm>
          <a:prstGeom prst="rect">
            <a:avLst/>
          </a:prstGeom>
        </p:spPr>
      </p:pic>
      <p:sp>
        <p:nvSpPr>
          <p:cNvPr id="3" name="TextBox 2"/>
          <p:cNvSpPr txBox="1"/>
          <p:nvPr/>
        </p:nvSpPr>
        <p:spPr>
          <a:xfrm>
            <a:off x="658368" y="932688"/>
            <a:ext cx="4114800" cy="457200"/>
          </a:xfrm>
          <a:prstGeom prst="rect">
            <a:avLst/>
          </a:prstGeom>
          <a:noFill/>
        </p:spPr>
        <p:txBody>
          <a:bodyPr wrap="none">
            <a:spAutoFit/>
          </a:bodyPr>
          <a:lstStyle/>
          <a:p>
            <a:r>
              <a:rPr sz="1900" b="1" i="0">
                <a:solidFill>
                  <a:srgbClr val="F5F1EA"/>
                </a:solidFill>
                <a:latin typeface="Georgia"/>
              </a:rPr>
              <a:t>Strategy</a:t>
            </a:r>
            <a:r>
              <a:rPr sz="1900" b="1" i="1">
                <a:solidFill>
                  <a:srgbClr val="C9A55B"/>
                </a:solidFill>
                <a:latin typeface="Georgia"/>
              </a:rPr>
              <a:t>AI</a:t>
            </a:r>
          </a:p>
        </p:txBody>
      </p:sp>
      <p:sp>
        <p:nvSpPr>
          <p:cNvPr id="4" name="TextBox 3"/>
          <p:cNvSpPr txBox="1"/>
          <p:nvPr/>
        </p:nvSpPr>
        <p:spPr>
          <a:xfrm>
            <a:off x="658368" y="1536192"/>
            <a:ext cx="4114800" cy="320040"/>
          </a:xfrm>
          <a:prstGeom prst="rect">
            <a:avLst/>
          </a:prstGeom>
          <a:noFill/>
        </p:spPr>
        <p:txBody>
          <a:bodyPr wrap="none">
            <a:spAutoFit/>
          </a:bodyPr>
          <a:lstStyle/>
          <a:p>
            <a:r>
              <a:rPr sz="900" b="0" i="0">
                <a:solidFill>
                  <a:srgbClr val="22C55E"/>
                </a:solidFill>
                <a:latin typeface="Calibri"/>
              </a:rPr>
              <a:t>●  </a:t>
            </a:r>
            <a:r>
              <a:rPr sz="1050" b="1" i="0">
                <a:solidFill>
                  <a:srgbClr val="C9A55B"/>
                </a:solidFill>
                <a:latin typeface="Consolas"/>
              </a:rPr>
              <a:t>NEW NEWSLETTER  ·  EMEA</a:t>
            </a:r>
          </a:p>
        </p:txBody>
      </p:sp>
      <p:sp>
        <p:nvSpPr>
          <p:cNvPr id="5" name="TextBox 4"/>
          <p:cNvSpPr txBox="1"/>
          <p:nvPr/>
        </p:nvSpPr>
        <p:spPr>
          <a:xfrm>
            <a:off x="658368" y="1901952"/>
            <a:ext cx="4206240" cy="1463040"/>
          </a:xfrm>
          <a:prstGeom prst="rect">
            <a:avLst/>
          </a:prstGeom>
          <a:noFill/>
        </p:spPr>
        <p:txBody>
          <a:bodyPr wrap="square">
            <a:spAutoFit/>
          </a:bodyPr>
          <a:lstStyle/>
          <a:p>
            <a:r>
              <a:rPr sz="4600" b="0" i="0">
                <a:solidFill>
                  <a:srgbClr val="F5F1EA"/>
                </a:solidFill>
                <a:latin typeface="Georgia"/>
              </a:rPr>
              <a:t>Before the</a:t>
            </a:r>
          </a:p>
          <a:p>
            <a:r>
              <a:rPr sz="4600" b="0" i="1">
                <a:solidFill>
                  <a:srgbClr val="C9A55B"/>
                </a:solidFill>
                <a:latin typeface="Georgia"/>
              </a:rPr>
              <a:t>Mandate</a:t>
            </a:r>
          </a:p>
        </p:txBody>
      </p:sp>
      <p:sp>
        <p:nvSpPr>
          <p:cNvPr id="6" name="TextBox 5"/>
          <p:cNvSpPr txBox="1"/>
          <p:nvPr/>
        </p:nvSpPr>
        <p:spPr>
          <a:xfrm>
            <a:off x="658368" y="3401568"/>
            <a:ext cx="3977639" cy="1280160"/>
          </a:xfrm>
          <a:prstGeom prst="rect">
            <a:avLst/>
          </a:prstGeom>
          <a:noFill/>
        </p:spPr>
        <p:txBody>
          <a:bodyPr wrap="square">
            <a:spAutoFit/>
          </a:bodyPr>
          <a:lstStyle/>
          <a:p>
            <a:r>
              <a:rPr sz="1350" b="0" i="0">
                <a:solidFill>
                  <a:srgbClr val="AEB9C7"/>
                </a:solidFill>
                <a:latin typeface="Calibri"/>
              </a:rPr>
              <a:t>The consulting mandate, weeks before the market sees it. Each issue shows where the next advisory mandates are forming across EMEA, why the window is open now, and who to call.</a:t>
            </a:r>
          </a:p>
        </p:txBody>
      </p:sp>
      <p:sp>
        <p:nvSpPr>
          <p:cNvPr id="7" name="TextBox 6"/>
          <p:cNvSpPr txBox="1"/>
          <p:nvPr/>
        </p:nvSpPr>
        <p:spPr>
          <a:xfrm>
            <a:off x="658368" y="4773168"/>
            <a:ext cx="4297680" cy="1280160"/>
          </a:xfrm>
          <a:prstGeom prst="rect">
            <a:avLst/>
          </a:prstGeom>
          <a:noFill/>
        </p:spPr>
        <p:txBody>
          <a:bodyPr wrap="square">
            <a:spAutoFit/>
          </a:bodyPr>
          <a:lstStyle/>
          <a:p>
            <a:pPr>
              <a:spcAft>
                <a:spcPts val="900"/>
              </a:spcAft>
            </a:pPr>
            <a:r>
              <a:rPr sz="1300" b="1" i="0">
                <a:solidFill>
                  <a:srgbClr val="C9A55B"/>
                </a:solidFill>
                <a:latin typeface="Calibri"/>
              </a:rPr>
              <a:t>✓  </a:t>
            </a:r>
            <a:r>
              <a:rPr sz="1300" b="0" i="0">
                <a:solidFill>
                  <a:srgbClr val="D4DCE6"/>
                </a:solidFill>
                <a:latin typeface="Calibri"/>
              </a:rPr>
              <a:t>The mandates forming now, backed by real evidence</a:t>
            </a:r>
          </a:p>
          <a:p>
            <a:pPr>
              <a:spcAft>
                <a:spcPts val="900"/>
              </a:spcAft>
            </a:pPr>
            <a:r>
              <a:rPr sz="1300" b="1" i="0">
                <a:solidFill>
                  <a:srgbClr val="C9A55B"/>
                </a:solidFill>
                <a:latin typeface="Calibri"/>
              </a:rPr>
              <a:t>✓  </a:t>
            </a:r>
            <a:r>
              <a:rPr sz="1300" b="0" i="0">
                <a:solidFill>
                  <a:srgbClr val="D4DCE6"/>
                </a:solidFill>
                <a:latin typeface="Calibri"/>
              </a:rPr>
              <a:t>Deals, people moves and sector momentum across EMEA</a:t>
            </a:r>
          </a:p>
          <a:p>
            <a:pPr>
              <a:spcAft>
                <a:spcPts val="900"/>
              </a:spcAft>
            </a:pPr>
            <a:r>
              <a:rPr sz="1300" b="1" i="0">
                <a:solidFill>
                  <a:srgbClr val="C9A55B"/>
                </a:solidFill>
                <a:latin typeface="Calibri"/>
              </a:rPr>
              <a:t>✓  </a:t>
            </a:r>
            <a:r>
              <a:rPr sz="1300" b="0" i="0">
                <a:solidFill>
                  <a:srgbClr val="D4DCE6"/>
                </a:solidFill>
                <a:latin typeface="Calibri"/>
              </a:rPr>
              <a:t>One worked example each issue, signal by signal</a:t>
            </a:r>
          </a:p>
        </p:txBody>
      </p:sp>
      <p:sp>
        <p:nvSpPr>
          <p:cNvPr id="8" name="Rounded Rectangle 7"/>
          <p:cNvSpPr/>
          <p:nvPr/>
        </p:nvSpPr>
        <p:spPr>
          <a:xfrm>
            <a:off x="658368" y="6144768"/>
            <a:ext cx="3200400" cy="512064"/>
          </a:xfrm>
          <a:prstGeom prst="roundRect">
            <a:avLst/>
          </a:prstGeom>
          <a:solidFill>
            <a:srgbClr val="C9A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0F1B2D"/>
                </a:solidFill>
                <a:latin typeface="Consolas"/>
              </a:rPr>
              <a:t>SUBSCRIBE ON LINKEDIN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DE2"/>
        </a:solidFill>
        <a:effectLst/>
      </p:bgPr>
    </p:bg>
    <p:spTree>
      <p:nvGrpSpPr>
        <p:cNvPr id="1" name=""/>
        <p:cNvGrpSpPr/>
        <p:nvPr/>
      </p:nvGrpSpPr>
      <p:grpSpPr/>
      <p:pic>
        <p:nvPicPr>
          <p:cNvPr id="2" name="Picture 1" descr="nl-devices.png"/>
          <p:cNvPicPr>
            <a:picLocks noChangeAspect="1"/>
          </p:cNvPicPr>
          <p:nvPr/>
        </p:nvPicPr>
        <p:blipFill>
          <a:blip r:embed="rId2"/>
          <a:stretch>
            <a:fillRect/>
          </a:stretch>
        </p:blipFill>
        <p:spPr>
          <a:xfrm>
            <a:off x="4681728" y="0"/>
            <a:ext cx="7022592" cy="7498080"/>
          </a:xfrm>
          <a:prstGeom prst="rect">
            <a:avLst/>
          </a:prstGeom>
        </p:spPr>
      </p:pic>
      <p:sp>
        <p:nvSpPr>
          <p:cNvPr id="3" name="TextBox 2"/>
          <p:cNvSpPr txBox="1"/>
          <p:nvPr/>
        </p:nvSpPr>
        <p:spPr>
          <a:xfrm>
            <a:off x="658368" y="932688"/>
            <a:ext cx="4114800" cy="457200"/>
          </a:xfrm>
          <a:prstGeom prst="rect">
            <a:avLst/>
          </a:prstGeom>
          <a:noFill/>
        </p:spPr>
        <p:txBody>
          <a:bodyPr wrap="none">
            <a:spAutoFit/>
          </a:bodyPr>
          <a:lstStyle/>
          <a:p>
            <a:r>
              <a:rPr sz="1900" b="1" i="0">
                <a:solidFill>
                  <a:srgbClr val="0F1B2D"/>
                </a:solidFill>
                <a:latin typeface="Georgia"/>
              </a:rPr>
              <a:t>Strategy</a:t>
            </a:r>
            <a:r>
              <a:rPr sz="1900" b="1" i="1">
                <a:solidFill>
                  <a:srgbClr val="B8923F"/>
                </a:solidFill>
                <a:latin typeface="Georgia"/>
              </a:rPr>
              <a:t>AI</a:t>
            </a:r>
          </a:p>
        </p:txBody>
      </p:sp>
      <p:sp>
        <p:nvSpPr>
          <p:cNvPr id="4" name="TextBox 3"/>
          <p:cNvSpPr txBox="1"/>
          <p:nvPr/>
        </p:nvSpPr>
        <p:spPr>
          <a:xfrm>
            <a:off x="658368" y="1536192"/>
            <a:ext cx="4114800" cy="320040"/>
          </a:xfrm>
          <a:prstGeom prst="rect">
            <a:avLst/>
          </a:prstGeom>
          <a:noFill/>
        </p:spPr>
        <p:txBody>
          <a:bodyPr wrap="none">
            <a:spAutoFit/>
          </a:bodyPr>
          <a:lstStyle/>
          <a:p>
            <a:r>
              <a:rPr sz="900" b="0" i="0">
                <a:solidFill>
                  <a:srgbClr val="22C55E"/>
                </a:solidFill>
                <a:latin typeface="Calibri"/>
              </a:rPr>
              <a:t>●  </a:t>
            </a:r>
            <a:r>
              <a:rPr sz="1050" b="1" i="0">
                <a:solidFill>
                  <a:srgbClr val="B8923F"/>
                </a:solidFill>
                <a:latin typeface="Consolas"/>
              </a:rPr>
              <a:t>NEW NEWSLETTER  ·  EMEA</a:t>
            </a:r>
          </a:p>
        </p:txBody>
      </p:sp>
      <p:sp>
        <p:nvSpPr>
          <p:cNvPr id="5" name="TextBox 4"/>
          <p:cNvSpPr txBox="1"/>
          <p:nvPr/>
        </p:nvSpPr>
        <p:spPr>
          <a:xfrm>
            <a:off x="658368" y="1901952"/>
            <a:ext cx="4206240" cy="1463040"/>
          </a:xfrm>
          <a:prstGeom prst="rect">
            <a:avLst/>
          </a:prstGeom>
          <a:noFill/>
        </p:spPr>
        <p:txBody>
          <a:bodyPr wrap="square">
            <a:spAutoFit/>
          </a:bodyPr>
          <a:lstStyle/>
          <a:p>
            <a:r>
              <a:rPr sz="4600" b="0" i="0">
                <a:solidFill>
                  <a:srgbClr val="0F1B2D"/>
                </a:solidFill>
                <a:latin typeface="Georgia"/>
              </a:rPr>
              <a:t>Before the</a:t>
            </a:r>
          </a:p>
          <a:p>
            <a:r>
              <a:rPr sz="4600" b="0" i="1">
                <a:solidFill>
                  <a:srgbClr val="B8923F"/>
                </a:solidFill>
                <a:latin typeface="Georgia"/>
              </a:rPr>
              <a:t>Mandate</a:t>
            </a:r>
          </a:p>
        </p:txBody>
      </p:sp>
      <p:sp>
        <p:nvSpPr>
          <p:cNvPr id="6" name="TextBox 5"/>
          <p:cNvSpPr txBox="1"/>
          <p:nvPr/>
        </p:nvSpPr>
        <p:spPr>
          <a:xfrm>
            <a:off x="658368" y="3401568"/>
            <a:ext cx="3977639" cy="1280160"/>
          </a:xfrm>
          <a:prstGeom prst="rect">
            <a:avLst/>
          </a:prstGeom>
          <a:noFill/>
        </p:spPr>
        <p:txBody>
          <a:bodyPr wrap="square">
            <a:spAutoFit/>
          </a:bodyPr>
          <a:lstStyle/>
          <a:p>
            <a:r>
              <a:rPr sz="1350" b="0" i="0">
                <a:solidFill>
                  <a:srgbClr val="51606F"/>
                </a:solidFill>
                <a:latin typeface="Calibri"/>
              </a:rPr>
              <a:t>The consulting mandate, weeks before the market sees it. Each issue shows where the next advisory mandates are forming across EMEA, why the window is open now, and who to call.</a:t>
            </a:r>
          </a:p>
        </p:txBody>
      </p:sp>
      <p:sp>
        <p:nvSpPr>
          <p:cNvPr id="7" name="TextBox 6"/>
          <p:cNvSpPr txBox="1"/>
          <p:nvPr/>
        </p:nvSpPr>
        <p:spPr>
          <a:xfrm>
            <a:off x="658368" y="4773168"/>
            <a:ext cx="4297680" cy="1280160"/>
          </a:xfrm>
          <a:prstGeom prst="rect">
            <a:avLst/>
          </a:prstGeom>
          <a:noFill/>
        </p:spPr>
        <p:txBody>
          <a:bodyPr wrap="square">
            <a:spAutoFit/>
          </a:bodyPr>
          <a:lstStyle/>
          <a:p>
            <a:pPr>
              <a:spcAft>
                <a:spcPts val="900"/>
              </a:spcAft>
            </a:pPr>
            <a:r>
              <a:rPr sz="1300" b="1" i="0">
                <a:solidFill>
                  <a:srgbClr val="B8923F"/>
                </a:solidFill>
                <a:latin typeface="Calibri"/>
              </a:rPr>
              <a:t>✓  </a:t>
            </a:r>
            <a:r>
              <a:rPr sz="1300" b="0" i="0">
                <a:solidFill>
                  <a:srgbClr val="33414F"/>
                </a:solidFill>
                <a:latin typeface="Calibri"/>
              </a:rPr>
              <a:t>The mandates forming now, backed by real evidence</a:t>
            </a:r>
          </a:p>
          <a:p>
            <a:pPr>
              <a:spcAft>
                <a:spcPts val="900"/>
              </a:spcAft>
            </a:pPr>
            <a:r>
              <a:rPr sz="1300" b="1" i="0">
                <a:solidFill>
                  <a:srgbClr val="B8923F"/>
                </a:solidFill>
                <a:latin typeface="Calibri"/>
              </a:rPr>
              <a:t>✓  </a:t>
            </a:r>
            <a:r>
              <a:rPr sz="1300" b="0" i="0">
                <a:solidFill>
                  <a:srgbClr val="33414F"/>
                </a:solidFill>
                <a:latin typeface="Calibri"/>
              </a:rPr>
              <a:t>Deals, people moves and sector momentum across EMEA</a:t>
            </a:r>
          </a:p>
          <a:p>
            <a:pPr>
              <a:spcAft>
                <a:spcPts val="900"/>
              </a:spcAft>
            </a:pPr>
            <a:r>
              <a:rPr sz="1300" b="1" i="0">
                <a:solidFill>
                  <a:srgbClr val="B8923F"/>
                </a:solidFill>
                <a:latin typeface="Calibri"/>
              </a:rPr>
              <a:t>✓  </a:t>
            </a:r>
            <a:r>
              <a:rPr sz="1300" b="0" i="0">
                <a:solidFill>
                  <a:srgbClr val="33414F"/>
                </a:solidFill>
                <a:latin typeface="Calibri"/>
              </a:rPr>
              <a:t>One worked example each issue, signal by signal</a:t>
            </a:r>
          </a:p>
        </p:txBody>
      </p:sp>
      <p:sp>
        <p:nvSpPr>
          <p:cNvPr id="8" name="Rounded Rectangle 7"/>
          <p:cNvSpPr/>
          <p:nvPr/>
        </p:nvSpPr>
        <p:spPr>
          <a:xfrm>
            <a:off x="658368" y="6144768"/>
            <a:ext cx="3200400" cy="512064"/>
          </a:xfrm>
          <a:prstGeom prst="roundRect">
            <a:avLst/>
          </a:prstGeom>
          <a:solidFill>
            <a:srgbClr val="B89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0F1B2D"/>
                </a:solidFill>
                <a:latin typeface="Consolas"/>
              </a:rPr>
              <a:t>SUBSCRIBE ON LINKEDIN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